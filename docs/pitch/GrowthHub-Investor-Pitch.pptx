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(incl. transaction fees)</c:v>
                </c:pt>
              </c:strCache>
            </c:strRef>
          </c:tx>
          <c:spPr>
            <a:solidFill>
              <a:srgbClr val="FF5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Solo $49</c:v>
                  </c:pt>
                  <c:pt idx="1">
                    <c:v>Marketplace $99</c:v>
                  </c:pt>
                  <c:pt idx="2">
                    <c:v>Growth $199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126</c:v>
                </c:pt>
                <c:pt idx="2">
                  <c:v>259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to Serve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Solo $49</c:v>
                  </c:pt>
                  <c:pt idx="1">
                    <c:v>Marketplace $99</c:v>
                  </c:pt>
                  <c:pt idx="2">
                    <c:v>Growth $199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30</c:v>
                </c:pt>
                <c:pt idx="2">
                  <c:v>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Solo $49</c:v>
                  </c:pt>
                  <c:pt idx="1">
                    <c:v>Marketplace $99</c:v>
                  </c:pt>
                  <c:pt idx="2">
                    <c:v>Growth $199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96</c:v>
                </c:pt>
                <c:pt idx="2">
                  <c:v>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FF5C00"/>
            </a:solidFill>
            <a:ln w="38100" cap="flat">
              <a:solidFill>
                <a:srgbClr val="FF5C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C00"/>
              </a:solidFill>
              <a:ln w="9525" cap="flat">
                <a:solidFill>
                  <a:srgbClr val="FF5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250</c:v>
                  </c:pt>
                  <c:pt idx="2">
                    <c:v>500</c:v>
                  </c:pt>
                  <c:pt idx="3">
                    <c:v>1,000</c:v>
                  </c:pt>
                  <c:pt idx="4">
                    <c:v>2,500</c:v>
                  </c:pt>
                  <c:pt idx="5">
                    <c:v>5,000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14900</c:v>
                </c:pt>
                <c:pt idx="1">
                  <c:v>37250</c:v>
                </c:pt>
                <c:pt idx="2">
                  <c:v>74500</c:v>
                </c:pt>
                <c:pt idx="3">
                  <c:v>149000</c:v>
                </c:pt>
                <c:pt idx="4">
                  <c:v>372500</c:v>
                </c:pt>
                <c:pt idx="5">
                  <c:v>745000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Charitable Giving ($)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250</c:v>
                  </c:pt>
                  <c:pt idx="2">
                    <c:v>500</c:v>
                  </c:pt>
                  <c:pt idx="3">
                    <c:v>1,000</c:v>
                  </c:pt>
                  <c:pt idx="4">
                    <c:v>2,500</c:v>
                  </c:pt>
                  <c:pt idx="5">
                    <c:v>5,000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29800</c:v>
                </c:pt>
                <c:pt idx="1">
                  <c:v>74500</c:v>
                </c:pt>
                <c:pt idx="2">
                  <c:v>149000</c:v>
                </c:pt>
                <c:pt idx="3">
                  <c:v>298000</c:v>
                </c:pt>
                <c:pt idx="4">
                  <c:v>745000</c:v>
                </c:pt>
                <c:pt idx="5">
                  <c:v>1490000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Merchant Count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GrowthHub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8C42"/>
                </a:solidFill>
              </a:rPr>
              <a:t>The complete digital stack for small business.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$49/mo · No transaction fees · Built for Brisbane, scaling globally.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474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Investor Presentation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Small businesses are losing a war they don't know they're 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4904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</a:rPr>
              <a:t>Big Brands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945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Own branded app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420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customer CRM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88950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Push notifications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3697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Loyalty programs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8444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Re-engagement campaigns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3192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Own every email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5720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6634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Small Businesses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663440" y="21579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956048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Square terminal + Facebook page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663440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956048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customer data ownership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663440" y="28529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956048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Can't send a birthday reward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663440" y="32004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956048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Paying 25–30% to DoorDash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663440" y="35478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956048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$50K+ for a custom app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663440" y="38953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✕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956048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Losing customers every week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COST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 it costs a $50K/mo restaurant just to exist digitally.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Before they pay rent, wages, or food.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for Restaurants 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POS, basic ordering, loyalty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transaction fees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 + 10¢ per swipe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~$1,310/mo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 Eats / DoorDash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+ delivery (25–30% per order)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~$3,750–4,500/mo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website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page, no 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$100–300/mo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branded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presence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$50K–150K build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$5,000–6,000+/mo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GrowthHub gives every small business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same tech stack as Dominos.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5C00"/>
                </a:solidFill>
              </a:rPr>
              <a:t>For less than $10 a day.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7432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Stack Presence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Branded storefront, orders, KDS, tables, reservations — one platform.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7432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331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Own Your Customers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3246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CRM, loyalty engine, SMS &amp; email campaigns. Your data, forever.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7432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Commission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3246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Flat monthly fee. No % on orders. Keep every dollar you earn.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Four tiers. One flat fee. 60-day free trial on every plan.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Solo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$49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/mo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7432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Orders + Kitchen Display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07238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Storefront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01568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Tables + Reservations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73075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1792" y="3694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2,000 emails/mo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059936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1792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location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389120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1792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$10/mo charity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2450592" y="16002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2542032" y="1691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Marketplace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2542032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00"/>
                </a:solidFill>
              </a:rPr>
              <a:t>$99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2542032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/mo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274320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798064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Everything in Solo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072384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798064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CRM + Loyalty</a:t>
            </a:r>
            <a:endParaRPr lang="en-US" sz="9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401568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798064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700 SMS/mo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3730752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2798064" y="3694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15,000 emails/mo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405993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798064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 to 3 locations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320" y="4389120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2798064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$25/mo charity</a:t>
            </a:r>
            <a:endParaRPr lang="en-US" sz="950" dirty="0"/>
          </a:p>
        </p:txBody>
      </p:sp>
      <p:sp>
        <p:nvSpPr>
          <p:cNvPr id="37" name="Shape 23"/>
          <p:cNvSpPr/>
          <p:nvPr/>
        </p:nvSpPr>
        <p:spPr>
          <a:xfrm>
            <a:off x="4626864" y="1600200"/>
            <a:ext cx="205740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FF5C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24"/>
          <p:cNvSpPr/>
          <p:nvPr/>
        </p:nvSpPr>
        <p:spPr>
          <a:xfrm>
            <a:off x="4626864" y="1600200"/>
            <a:ext cx="2057400" cy="292608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4626864" y="16002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40" name="Text 26"/>
          <p:cNvSpPr/>
          <p:nvPr/>
        </p:nvSpPr>
        <p:spPr>
          <a:xfrm>
            <a:off x="4718304" y="19659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</a:t>
            </a:r>
            <a:endParaRPr lang="en-US" sz="1300" dirty="0"/>
          </a:p>
        </p:txBody>
      </p:sp>
      <p:sp>
        <p:nvSpPr>
          <p:cNvPr id="41" name="Text 27"/>
          <p:cNvSpPr/>
          <p:nvPr/>
        </p:nvSpPr>
        <p:spPr>
          <a:xfrm>
            <a:off x="4718304" y="2286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00"/>
                </a:solidFill>
              </a:rPr>
              <a:t>$199</a:t>
            </a:r>
            <a:endParaRPr lang="en-US" sz="2200" dirty="0"/>
          </a:p>
        </p:txBody>
      </p:sp>
      <p:sp>
        <p:nvSpPr>
          <p:cNvPr id="42" name="Text 28"/>
          <p:cNvSpPr/>
          <p:nvPr/>
        </p:nvSpPr>
        <p:spPr>
          <a:xfrm>
            <a:off x="4718304" y="2697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/mo</a:t>
            </a:r>
            <a:endParaRPr lang="en-US" sz="10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6592" y="3017520"/>
            <a:ext cx="164592" cy="164592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4974336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Everything in Marketplace</a:t>
            </a:r>
            <a:endParaRPr lang="en-US" sz="95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592" y="3346704"/>
            <a:ext cx="164592" cy="16459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4974336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1,000 SMS/mo</a:t>
            </a:r>
            <a:endParaRPr lang="en-US" sz="950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6592" y="3675888"/>
            <a:ext cx="164592" cy="164592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4974336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50,000 emails/mo</a:t>
            </a:r>
            <a:endParaRPr lang="en-US" sz="950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6592" y="4005072"/>
            <a:ext cx="164592" cy="164592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4974336" y="3968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Custom domain + PWA</a:t>
            </a:r>
            <a:endParaRPr lang="en-US" sz="950" dirty="0"/>
          </a:p>
        </p:txBody>
      </p:sp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6592" y="4334256"/>
            <a:ext cx="164592" cy="164592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4974336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Priority placement</a:t>
            </a:r>
            <a:endParaRPr lang="en-US" sz="95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6592" y="4663440"/>
            <a:ext cx="164592" cy="164592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4974336" y="46268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$40/mo charity</a:t>
            </a:r>
            <a:endParaRPr lang="en-US" sz="950" dirty="0"/>
          </a:p>
        </p:txBody>
      </p:sp>
      <p:sp>
        <p:nvSpPr>
          <p:cNvPr id="55" name="Shape 35"/>
          <p:cNvSpPr/>
          <p:nvPr/>
        </p:nvSpPr>
        <p:spPr>
          <a:xfrm>
            <a:off x="6803136" y="16002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36"/>
          <p:cNvSpPr/>
          <p:nvPr/>
        </p:nvSpPr>
        <p:spPr>
          <a:xfrm>
            <a:off x="6894576" y="16916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57" name="Text 37"/>
          <p:cNvSpPr/>
          <p:nvPr/>
        </p:nvSpPr>
        <p:spPr>
          <a:xfrm>
            <a:off x="6894576" y="20116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Custom</a:t>
            </a:r>
            <a:endParaRPr lang="en-US" sz="22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12864" y="2743200"/>
            <a:ext cx="164592" cy="164592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7150608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Unlimited everything</a:t>
            </a:r>
            <a:endParaRPr lang="en-US" sz="950" dirty="0"/>
          </a:p>
        </p:txBody>
      </p:sp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12864" y="3072384"/>
            <a:ext cx="164592" cy="164592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>
            <a:off x="7150608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2,500 SMS/mo</a:t>
            </a:r>
            <a:endParaRPr lang="en-US" sz="950" dirty="0"/>
          </a:p>
        </p:txBody>
      </p:sp>
      <p:pic>
        <p:nvPicPr>
          <p:cNvPr id="6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12864" y="3401568"/>
            <a:ext cx="164592" cy="164592"/>
          </a:xfrm>
          <a:prstGeom prst="rect">
            <a:avLst/>
          </a:prstGeom>
        </p:spPr>
      </p:pic>
      <p:sp>
        <p:nvSpPr>
          <p:cNvPr id="63" name="Text 40"/>
          <p:cNvSpPr/>
          <p:nvPr/>
        </p:nvSpPr>
        <p:spPr>
          <a:xfrm>
            <a:off x="7150608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100,000 emails/mo</a:t>
            </a:r>
            <a:endParaRPr lang="en-US" sz="950" dirty="0"/>
          </a:p>
        </p:txBody>
      </p:sp>
      <p:pic>
        <p:nvPicPr>
          <p:cNvPr id="6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12864" y="3730752"/>
            <a:ext cx="164592" cy="164592"/>
          </a:xfrm>
          <a:prstGeom prst="rect">
            <a:avLst/>
          </a:prstGeom>
        </p:spPr>
      </p:pic>
      <p:sp>
        <p:nvSpPr>
          <p:cNvPr id="65" name="Text 41"/>
          <p:cNvSpPr/>
          <p:nvPr/>
        </p:nvSpPr>
        <p:spPr>
          <a:xfrm>
            <a:off x="7150608" y="3694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Dedicated support</a:t>
            </a:r>
            <a:endParaRPr lang="en-US" sz="950" dirty="0"/>
          </a:p>
        </p:txBody>
      </p:sp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12864" y="4059936"/>
            <a:ext cx="164592" cy="164592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7150608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Multi-location</a:t>
            </a:r>
            <a:endParaRPr lang="en-US" sz="950" dirty="0"/>
          </a:p>
        </p:txBody>
      </p:sp>
      <p:pic>
        <p:nvPicPr>
          <p:cNvPr id="6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12864" y="4389120"/>
            <a:ext cx="164592" cy="164592"/>
          </a:xfrm>
          <a:prstGeom prst="rect">
            <a:avLst/>
          </a:prstGeom>
        </p:spPr>
      </p:pic>
      <p:sp>
        <p:nvSpPr>
          <p:cNvPr id="69" name="Text 43"/>
          <p:cNvSpPr/>
          <p:nvPr/>
        </p:nvSpPr>
        <p:spPr>
          <a:xfrm>
            <a:off x="7150608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Negotiated charity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UNIT ECONOMICS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Gross margins of 76–81%. Profitable from merchant #1.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600200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220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Solo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72200" y="1901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Margin: ~81%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2167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Rev $61 · Cost $11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2679192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Margin: ~76%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7220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Rev $126 · Cost $30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758184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Growth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4059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Margin: ~81%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72200" y="4325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Rev $259 · Cost $50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20% of revenue goes to charity. Automatically. Verifiably.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No competitor is within an order of magnitude.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$10–40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Monthly donation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 merchant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6002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4328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0.15%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78608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Of every 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to charity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6002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45736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~20%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0016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Of total 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donated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9984" y="160020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7144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$1M+/yr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21424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At 5,000 merchants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+ $20K avg GMV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201168" cy="2011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Merchant processes an order through GrowthHub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201168" cy="2011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685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0.15% is routed directly to a verified charitable cause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201168" cy="2011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93192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GrowthHub retains 0.15% net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197096"/>
            <a:ext cx="201168" cy="2011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1788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Merchant's storefront displays an Impact Partner badge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43984"/>
            <a:ext cx="201168" cy="20116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44256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All giving is publicly verifiable via transparency portal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 STATUS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80% built. Live. Demonstrable today.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The app is fully functional. Once we agree on a name, the domain and emails follow.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 Already Live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Order management (kanban + real-time)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2951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Kitchen display 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Products &amp; menu catalog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254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Public storefront (restaurant + retail)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Customer CRM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3558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Loyalty &amp; rewards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6210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SMS campaigns (delivery tracking + opt-out)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Email campaigns (open/click tracking)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2029968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Promo codes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29514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Table management + QR zones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56032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Reservations management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8254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Uber Direct delivery integration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3090672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Multi-tenant data isolation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3355848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Demo mode (full seeded data)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362102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Public customer portal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3886200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· Owner auth 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3931920" cy="3246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🔧  Remaining to Build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20574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93792" y="2029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Public /eat marketplace UI (API + DB done)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32888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93792" y="25054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Stripe billing integration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008376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93792" y="29809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Public impact/transparency portal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483864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93792" y="3456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Reservation booking widget (public-facing)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959352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93792" y="39319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Advanced analytics dashboard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One decision separates us from launch: choosing the name. The moment we do, domain + email infra goes live same day.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Profitable at 100 merchants. Meaningful at 1,000. Transformative at 5,000.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6002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10528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100 merchants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10528" y="19202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00"/>
                </a:solidFill>
              </a:rPr>
              <a:t>$14,900/mo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10528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$30K/yr to charity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10528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Profitable from day one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0" y="26974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10528" y="2770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1,000 merchants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10528" y="30175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00"/>
                </a:solidFill>
              </a:rPr>
              <a:t>$149,000/mo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10528" y="3273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$298K/yr to charity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10528" y="3474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Strong proof point for Series 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0" y="37947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10528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5,000 merchants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10528" y="411480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00"/>
                </a:solidFill>
              </a:rPr>
              <a:t>$745,000/mo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10528" y="4370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$1.49M/yr to charity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10528" y="4572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National brand + global expansion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COMPETITIVE MOAT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No competitor does both axes.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Square/Toast = operations only. Uber Eats/DoorDash = discovery at 30%. We do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Full stack in one subscription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1305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Storefront + marketplace + CRM + loyalty + delivery. No other single product covers this.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16002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Mission drives acquisition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0" y="21305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Word of mouth from the giving model is worth more than Google ads. Mission-aligned merchants recruit each other.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Structurally low churn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280" y="37764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CRM data, loyalty history, brand domain — all live in GrowthHub. Switching cost is the customer relationship itself.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632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7472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Network effects via /eat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0" y="37764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More merchants → better consumer directory → more customers → more valuable for merchants. A flywheel that competitors can't easily replicate.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GO TO 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Start with Brisbane. Build the name. Then the world.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Dense independent scene. Close enough to manage. Big enough to matter.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9144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75688"/>
            <a:ext cx="292608" cy="292608"/>
          </a:xfrm>
          <a:prstGeom prst="oval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00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Brisbane Launch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200 merchants · $4M GMV · local press + case studies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54864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154680"/>
            <a:ext cx="292608" cy="292608"/>
          </a:xfrm>
          <a:prstGeom prst="oval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62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18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East Coast Expansion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Sydney + Melbourne · 1,000+ merchants · Series 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4233672"/>
            <a:ext cx="292608" cy="29260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41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197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National + /eat Launch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517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5,000 merchants · consumer-facing marketplace · $1M/yr to charity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87452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778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Brisbane?</a:t>
            </a:r>
            <a:endParaRPr lang="en-US" sz="13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304288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276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Dense independent hospitality + retail scene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64261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440680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Underserved by enterprise software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980944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Direct relationship management at launch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31927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4068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Strong proof points before scaling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657600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630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Tight-knit small business community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995928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44068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200 merchants = $4M+ GMV proof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technology scales on its own. The investment is in people and reach.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Sales &amp; Onboarding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194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People to sign and activate merchants in Brisbane. The product sells itself — we need boots on the ground.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46320" y="1645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828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Localisation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0" y="21945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Currency, SMS providers, tax structures for markets beyond Australia. Infra to go global.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2918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Legal &amp; Compliance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97280" y="38404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Review as we scale into new jurisdictions. Building the right foundation from day one.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46320" y="32918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Brand &amp; Marketing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0" y="38404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Build the GrowthHub name and grow the /eat consumer audience. The story is compelling — we need it heard.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We are not looking for passive capital. We are looking for partners who believe what we believe.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We have the product.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We have the model.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We have the mission.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274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5C00"/>
                </a:solidFill>
              </a:rPr>
              <a:t>What do you think?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5C00"/>
                </a:solidFill>
              </a:rPr>
              <a:t>What would you change?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5C00"/>
                </a:solidFill>
              </a:rPr>
              <a:t>What would make you say yes?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GrowthHub — Built for the people who built the neighbourhood.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9319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GrowthHub — Investor Pitch</dc:title>
  <dc:subject>PptxGenJS Presentation</dc:subject>
  <dc:creator>GrowthHub</dc:creator>
  <cp:lastModifiedBy>GrowthHub</cp:lastModifiedBy>
  <cp:revision>1</cp:revision>
  <dcterms:created xsi:type="dcterms:W3CDTF">2026-04-25T00:56:20Z</dcterms:created>
  <dcterms:modified xsi:type="dcterms:W3CDTF">2026-04-25T00:56:20Z</dcterms:modified>
</cp:coreProperties>
</file>